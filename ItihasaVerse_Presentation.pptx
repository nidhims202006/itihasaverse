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10"/>
  </p:normalViewPr>
  <p:slideViewPr>
    <p:cSldViewPr snapToGrid="0" snapToObjects="1">
      <p:cViewPr>
        <p:scale>
          <a:sx n="121" d="100"/>
          <a:sy n="121" d="100"/>
        </p:scale>
        <p:origin x="374" y="-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879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500"/>
          </a:solidFill>
          <a:ln w="12700">
            <a:solidFill>
              <a:srgbClr val="0D0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-194310"/>
            <a:ext cx="9144000" cy="5143500"/>
          </a:xfrm>
          <a:prstGeom prst="rect">
            <a:avLst/>
          </a:prstGeom>
          <a:solidFill>
            <a:srgbClr val="1A0800">
              <a:alpha val="40000"/>
            </a:srgbClr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"/>
            <a:ext cx="1737360" cy="1737360"/>
          </a:xfrm>
          <a:prstGeom prst="ellipse">
            <a:avLst/>
          </a:prstGeom>
          <a:solidFill>
            <a:srgbClr val="1E0A00">
              <a:alpha val="70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2743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🕉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47472" y="82296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ItihasaVerse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47472" y="17373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DHARMA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2240280"/>
            <a:ext cx="3200400" cy="27432"/>
          </a:xfrm>
          <a:prstGeom prst="rect">
            <a:avLst/>
          </a:prstGeom>
          <a:solidFill>
            <a:srgbClr val="D4AF37">
              <a:alpha val="6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377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Indian Mythology Decision Engine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Ancient Wisdom with Modern Web Technology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65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— 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Problem Are We Solving?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92608" y="1463040"/>
            <a:ext cx="5212080" cy="960120"/>
          </a:xfrm>
          <a:prstGeom prst="rect">
            <a:avLst/>
          </a:prstGeom>
          <a:solidFill>
            <a:srgbClr val="1E0D00"/>
          </a:solidFill>
          <a:ln w="12700">
            <a:solidFill>
              <a:srgbClr val="E86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463040"/>
            <a:ext cx="54864" cy="96012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Connection to Heritage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81051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young adults have little to no meaningful exposure to Indian epics like Ramayana beyond passive listening.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2560320"/>
            <a:ext cx="5212080" cy="960120"/>
          </a:xfrm>
          <a:prstGeom prst="rect">
            <a:avLst/>
          </a:prstGeom>
          <a:solidFill>
            <a:srgbClr val="1E0D00"/>
          </a:solidFill>
          <a:ln w="12700">
            <a:solidFill>
              <a:srgbClr val="E86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2560320"/>
            <a:ext cx="54864" cy="96012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Learning is Ineffective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90779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or watching stories does not develop ethical reasoning. People consume mythology without applying its wisdom to real decisions.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3657600"/>
            <a:ext cx="5212080" cy="960120"/>
          </a:xfrm>
          <a:prstGeom prst="rect">
            <a:avLst/>
          </a:prstGeom>
          <a:solidFill>
            <a:srgbClr val="1E0D00"/>
          </a:solidFill>
          <a:ln w="12700">
            <a:solidFill>
              <a:srgbClr val="E86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3657600"/>
            <a:ext cx="54864" cy="96012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Reasoning Gap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0050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interactive platform that teaches Dharma — the core of Indian philosophy — through lived, simulated decision-making.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15000" y="1463040"/>
            <a:ext cx="3108960" cy="960120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15361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1B+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760720" y="2011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with little active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of epics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2560320"/>
            <a:ext cx="3108960" cy="960120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60720" y="26334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760720" y="3108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simulation tools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15000" y="3657600"/>
            <a:ext cx="3108960" cy="960120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60720" y="37307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760720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engagement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mythology content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65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— IKS CONNECTION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Knowledge Systems at the Core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0" y="1325880"/>
            <a:ext cx="2194560" cy="2194560"/>
          </a:xfrm>
          <a:prstGeom prst="ellipse">
            <a:avLst/>
          </a:prstGeom>
          <a:solidFill>
            <a:srgbClr val="1E0A00"/>
          </a:solidFill>
          <a:ln w="31750">
            <a:solidFill>
              <a:srgbClr val="D4AF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4630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DHARMA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धर्म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45920" y="1993392"/>
            <a:ext cx="1828800" cy="429768"/>
          </a:xfrm>
          <a:prstGeom prst="line">
            <a:avLst/>
          </a:prstGeom>
          <a:noFill/>
          <a:ln w="12700">
            <a:solidFill>
              <a:srgbClr val="8B702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645919" y="3090672"/>
            <a:ext cx="1980149" cy="402336"/>
          </a:xfrm>
          <a:prstGeom prst="line">
            <a:avLst/>
          </a:prstGeom>
          <a:noFill/>
          <a:ln w="12700">
            <a:solidFill>
              <a:srgbClr val="8B7020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 flipH="1">
            <a:off x="5599911" y="1993392"/>
            <a:ext cx="1075208" cy="64008"/>
          </a:xfrm>
          <a:prstGeom prst="line">
            <a:avLst/>
          </a:prstGeom>
          <a:noFill/>
          <a:ln w="12700">
            <a:solidFill>
              <a:srgbClr val="8B702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675120" y="3493008"/>
            <a:ext cx="0" cy="0"/>
          </a:xfrm>
          <a:prstGeom prst="line">
            <a:avLst/>
          </a:prstGeom>
          <a:noFill/>
          <a:ln w="12700">
            <a:solidFill>
              <a:srgbClr val="8B702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4320" y="1298448"/>
            <a:ext cx="1737360" cy="777240"/>
          </a:xfrm>
          <a:prstGeom prst="rect">
            <a:avLst/>
          </a:prstGeom>
          <a:solidFill>
            <a:srgbClr val="1E0A00"/>
          </a:solidFill>
          <a:ln w="19050">
            <a:solidFill>
              <a:srgbClr val="E86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Ramayana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Itihas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1737360" cy="777240"/>
          </a:xfrm>
          <a:prstGeom prst="rect">
            <a:avLst/>
          </a:prstGeom>
          <a:solidFill>
            <a:srgbClr val="1E0A00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325880"/>
            <a:ext cx="1737360" cy="777240"/>
          </a:xfrm>
          <a:prstGeom prst="rect">
            <a:avLst/>
          </a:prstGeom>
          <a:solidFill>
            <a:srgbClr val="1E0A00"/>
          </a:solidFill>
          <a:ln w="1905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 Shastra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3017520"/>
            <a:ext cx="1737360" cy="777240"/>
          </a:xfrm>
          <a:prstGeom prst="rect">
            <a:avLst/>
          </a:prstGeom>
          <a:solidFill>
            <a:srgbClr val="1E0A00"/>
          </a:solidFill>
          <a:ln w="19050">
            <a:solidFill>
              <a:srgbClr val="EAD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Purusharthas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A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Goals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343400"/>
            <a:ext cx="8595360" cy="347472"/>
          </a:xfrm>
          <a:prstGeom prst="rect">
            <a:avLst/>
          </a:prstGeom>
          <a:solidFill>
            <a:srgbClr val="1E0A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361688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ItihasaVerse applies Dharma as an interactive scoring system — every decision earns or loses Dharma points, teaching the Ramayana's ethical framework through lived experience.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F138C54E-F842-5590-0843-EAB37024E03B}"/>
              </a:ext>
            </a:extLst>
          </p:cNvPr>
          <p:cNvSpPr/>
          <p:nvPr/>
        </p:nvSpPr>
        <p:spPr>
          <a:xfrm>
            <a:off x="5321808" y="3246120"/>
            <a:ext cx="1353312" cy="246888"/>
          </a:xfrm>
          <a:prstGeom prst="line">
            <a:avLst/>
          </a:prstGeom>
          <a:noFill/>
          <a:ln w="12700">
            <a:solidFill>
              <a:srgbClr val="8B7020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65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— TECHNICAL EXPLANATION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Technologies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71600"/>
            <a:ext cx="3749040" cy="21031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120640" y="1371600"/>
            <a:ext cx="3749040" cy="21031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0" y="3456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Story Screen – Live Scenario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2608" y="1371600"/>
            <a:ext cx="4572000" cy="713232"/>
          </a:xfrm>
          <a:prstGeom prst="rect">
            <a:avLst/>
          </a:prstGeom>
          <a:solidFill>
            <a:srgbClr val="1E0D00"/>
          </a:solidFill>
          <a:ln w="12700">
            <a:solidFill>
              <a:srgbClr val="E86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71600"/>
            <a:ext cx="54864" cy="713232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1408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16824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HTML5 + CSS3 + Vanilla JS — no framework, zero dependencies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92608" y="2167128"/>
            <a:ext cx="4572000" cy="713232"/>
          </a:xfrm>
          <a:prstGeom prst="rect">
            <a:avLst/>
          </a:prstGeom>
          <a:solidFill>
            <a:srgbClr val="1E0D00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2608" y="2167128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68680" y="2203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24780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with 5 characters × 2 scenarios = 10 unique decision trees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92608" y="2962656"/>
            <a:ext cx="4572000" cy="713232"/>
          </a:xfrm>
          <a:prstGeom prst="rect">
            <a:avLst/>
          </a:prstGeom>
          <a:solidFill>
            <a:srgbClr val="1E0D00"/>
          </a:solidFill>
          <a:ln w="12700">
            <a:solidFill>
              <a:srgbClr val="E86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2608" y="2962656"/>
            <a:ext cx="54864" cy="713232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68680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Dharma Meter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" y="32735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scoring system: +/− points per choice, live bar visualisation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92608" y="3758184"/>
            <a:ext cx="4572000" cy="713232"/>
          </a:xfrm>
          <a:prstGeom prst="rect">
            <a:avLst/>
          </a:prstGeom>
          <a:solidFill>
            <a:srgbClr val="1E0D00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92608" y="3758184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6868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6868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API — journal entries and history survive across sessions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7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65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PROPOSED SOLUTION &amp;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ItihasaVerse Model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188720" cy="1188720"/>
          </a:xfrm>
          <a:prstGeom prst="rect">
            <a:avLst/>
          </a:prstGeom>
          <a:solidFill>
            <a:srgbClr val="1E0A00"/>
          </a:solidFill>
          <a:ln w="19050">
            <a:solidFill>
              <a:srgbClr val="E86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27048" y="2057400"/>
            <a:ext cx="237744" cy="0"/>
          </a:xfrm>
          <a:prstGeom prst="line">
            <a:avLst/>
          </a:prstGeom>
          <a:noFill/>
          <a:ln w="19050">
            <a:solidFill>
              <a:srgbClr val="8B7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89280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83080" y="1463040"/>
            <a:ext cx="1188720" cy="1188720"/>
          </a:xfrm>
          <a:prstGeom prst="rect">
            <a:avLst/>
          </a:prstGeom>
          <a:solidFill>
            <a:srgbClr val="1E0A00"/>
          </a:solidFill>
          <a:ln w="19050">
            <a:solidFill>
              <a:srgbClr val="D4AF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8308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83080" y="20299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90088" y="2057400"/>
            <a:ext cx="237744" cy="0"/>
          </a:xfrm>
          <a:prstGeom prst="line">
            <a:avLst/>
          </a:prstGeom>
          <a:noFill/>
          <a:ln w="19050">
            <a:solidFill>
              <a:srgbClr val="8B7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89280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46120" y="1463040"/>
            <a:ext cx="1188720" cy="1188720"/>
          </a:xfrm>
          <a:prstGeom prst="rect">
            <a:avLst/>
          </a:prstGeom>
          <a:solidFill>
            <a:srgbClr val="1E0A00"/>
          </a:solidFill>
          <a:ln w="1905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46120" y="20299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53128" y="2057400"/>
            <a:ext cx="237744" cy="0"/>
          </a:xfrm>
          <a:prstGeom prst="line">
            <a:avLst/>
          </a:prstGeom>
          <a:noFill/>
          <a:ln w="19050">
            <a:solidFill>
              <a:srgbClr val="8B7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89280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9160" y="1463040"/>
            <a:ext cx="1188720" cy="1188720"/>
          </a:xfrm>
          <a:prstGeom prst="rect">
            <a:avLst/>
          </a:prstGeom>
          <a:solidFill>
            <a:srgbClr val="1E0A00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09160" y="20299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16168" y="2057400"/>
            <a:ext cx="237744" cy="0"/>
          </a:xfrm>
          <a:prstGeom prst="line">
            <a:avLst/>
          </a:prstGeom>
          <a:noFill/>
          <a:ln w="19050">
            <a:solidFill>
              <a:srgbClr val="8B7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89280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0" y="1463040"/>
            <a:ext cx="1188720" cy="1188720"/>
          </a:xfrm>
          <a:prstGeom prst="rect">
            <a:avLst/>
          </a:prstGeom>
          <a:solidFill>
            <a:srgbClr val="1E0A00"/>
          </a:solidFill>
          <a:ln w="19050">
            <a:solidFill>
              <a:srgbClr val="EAD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🕉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72200" y="20299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A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79208" y="2057400"/>
            <a:ext cx="237744" cy="0"/>
          </a:xfrm>
          <a:prstGeom prst="line">
            <a:avLst/>
          </a:prstGeom>
          <a:noFill/>
          <a:ln w="19050">
            <a:solidFill>
              <a:srgbClr val="8B7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189280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</a:rPr>
              <a:t>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35240" y="1463040"/>
            <a:ext cx="1188720" cy="1188720"/>
          </a:xfrm>
          <a:prstGeom prst="rect">
            <a:avLst/>
          </a:prstGeom>
          <a:solidFill>
            <a:srgbClr val="1E0A00"/>
          </a:solidFill>
          <a:ln w="19050">
            <a:solidFill>
              <a:srgbClr val="E86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3524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635240" y="20299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" y="2944368"/>
            <a:ext cx="4114800" cy="475488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" y="2944368"/>
            <a:ext cx="45720" cy="4754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playable characters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0624" y="3172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Rama, Sita, Ravana, Bharata, Vibhishana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" y="3511296"/>
            <a:ext cx="4114800" cy="475488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2608" y="3511296"/>
            <a:ext cx="45720" cy="4754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3538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moral dilemmas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0624" y="3739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2 choices, Dharma scoring &amp; outcomes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2608" y="4078224"/>
            <a:ext cx="4114800" cy="475488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" y="4078224"/>
            <a:ext cx="45720" cy="4754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4105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history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0624" y="43068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happens if you chose the other path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27448" y="2944368"/>
            <a:ext cx="4114800" cy="475488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27448" y="2944368"/>
            <a:ext cx="45720" cy="4754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journal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55464" y="3172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edit, delete personal learnings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27448" y="3511296"/>
            <a:ext cx="4114800" cy="475488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27448" y="3511296"/>
            <a:ext cx="45720" cy="4754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55464" y="3538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Decision Tree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55464" y="3739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history across all characters played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ItihasaVerse  |  Indian Knowledge Systems  |  2024–25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65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— 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Applications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71600"/>
            <a:ext cx="4114800" cy="2313432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292608" y="1371600"/>
            <a:ext cx="4114800" cy="231343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3666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Outcome Screen – Dharma Feedback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160520" cy="658368"/>
          </a:xfrm>
          <a:prstGeom prst="rect">
            <a:avLst/>
          </a:prstGeom>
          <a:solidFill>
            <a:srgbClr val="1E0D00"/>
          </a:solidFill>
          <a:ln w="12700">
            <a:solidFill>
              <a:srgbClr val="E86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371600"/>
            <a:ext cx="54864" cy="658368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14081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Education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73168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IKS curriculum tool for schools and colleges — makes ethics tangible through story-based role-play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2121408"/>
            <a:ext cx="4160520" cy="658368"/>
          </a:xfrm>
          <a:prstGeom prst="rect">
            <a:avLst/>
          </a:prstGeom>
          <a:solidFill>
            <a:srgbClr val="1E0D00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121408"/>
            <a:ext cx="54864" cy="6583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73168" y="2157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Government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73168" y="24140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heritage platforms (IGNCA, NCERT) to promote Ramayana literacy interactively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2871216"/>
            <a:ext cx="4160520" cy="658368"/>
          </a:xfrm>
          <a:prstGeom prst="rect">
            <a:avLst/>
          </a:prstGeom>
          <a:solidFill>
            <a:srgbClr val="1E0D00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2871216"/>
            <a:ext cx="54864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 Wellness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73168" y="31638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therapy tool — decision journaling mirrors mindfulness journaling practices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3621024"/>
            <a:ext cx="4160520" cy="658368"/>
          </a:xfrm>
          <a:prstGeom prst="rect">
            <a:avLst/>
          </a:prstGeom>
          <a:solidFill>
            <a:srgbClr val="1E0D00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3621024"/>
            <a:ext cx="54864" cy="6583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73168" y="3657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73168" y="3913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 full narrative game on Indian epics — Mahabharata, Upanishads expansion possible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65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— OUTCOME &amp;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&amp; Innovation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92608" y="1280160"/>
            <a:ext cx="2011680" cy="1097280"/>
          </a:xfrm>
          <a:prstGeom prst="rect">
            <a:avLst/>
          </a:prstGeom>
          <a:solidFill>
            <a:srgbClr val="1E0A00"/>
          </a:solidFill>
          <a:ln w="19050">
            <a:solidFill>
              <a:srgbClr val="E86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325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92608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Dilemmas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2011680" cy="1097280"/>
          </a:xfrm>
          <a:prstGeom prst="rect">
            <a:avLst/>
          </a:prstGeom>
          <a:solidFill>
            <a:srgbClr val="1E0A00"/>
          </a:solidFill>
          <a:ln w="19050">
            <a:solidFill>
              <a:srgbClr val="D4AF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325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5152" y="1280160"/>
            <a:ext cx="2011680" cy="1097280"/>
          </a:xfrm>
          <a:prstGeom prst="rect">
            <a:avLst/>
          </a:prstGeom>
          <a:solidFill>
            <a:srgbClr val="1E0A00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1325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45152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21424" y="1280160"/>
            <a:ext cx="2011680" cy="1097280"/>
          </a:xfrm>
          <a:prstGeom prst="rect">
            <a:avLst/>
          </a:prstGeom>
          <a:solidFill>
            <a:srgbClr val="1E0A00"/>
          </a:solidFill>
          <a:ln w="1905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21424" y="1325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21424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25786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Benefits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" y="2852928"/>
            <a:ext cx="4114800" cy="1783080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871216"/>
            <a:ext cx="3931920" cy="1737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Indian values personally relatable — not just historical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consequence-based thinking through simulation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empathy by letting users inhabit both "hero" and "villain"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2578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Innovation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36592" y="2852928"/>
            <a:ext cx="4114800" cy="1783080"/>
          </a:xfrm>
          <a:prstGeom prst="rect">
            <a:avLst/>
          </a:prstGeom>
          <a:solidFill>
            <a:srgbClr val="1E0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71216"/>
            <a:ext cx="3931920" cy="1737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known interactive Dharma scoring engine built on Ramayana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visualisation is novel in IKS education 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reflection journal bridges ancient wisdom and modern journaling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500"/>
          </a:solidFill>
          <a:ln w="12700">
            <a:solidFill>
              <a:srgbClr val="0D0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365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— CONCLUSION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8503920" cy="1371600"/>
          </a:xfrm>
          <a:prstGeom prst="rect">
            <a:avLst/>
          </a:prstGeom>
          <a:solidFill>
            <a:srgbClr val="1E0A00"/>
          </a:solidFill>
          <a:ln w="19050">
            <a:solidFill>
              <a:srgbClr val="D4AF3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61872"/>
            <a:ext cx="54864" cy="1371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98448"/>
            <a:ext cx="822960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"ItihasaVerse transforms the Ramayana from a scripture to be read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FF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a living experience to be lived — where every choice is a lesson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FF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Dharma, and every player becomes a student of Indian wisdom."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2011680" cy="777240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852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wisdom made interactive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96312" y="2834640"/>
            <a:ext cx="2011680" cy="777240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96312" y="2852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42032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Dharma scoring teaches ethics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72584" y="2834640"/>
            <a:ext cx="2011680" cy="777240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72584" y="2852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18304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show consequences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2834640"/>
            <a:ext cx="2011680" cy="777240"/>
          </a:xfrm>
          <a:prstGeom prst="rect">
            <a:avLst/>
          </a:prstGeom>
          <a:solidFill>
            <a:srgbClr val="1E0A00"/>
          </a:solidFill>
          <a:ln w="12700">
            <a:solidFill>
              <a:srgbClr val="8B7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48856" y="2852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94576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enables self-reflection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49040"/>
            <a:ext cx="8503920" cy="548640"/>
          </a:xfrm>
          <a:prstGeom prst="rect">
            <a:avLst/>
          </a:prstGeom>
          <a:solidFill>
            <a:srgbClr val="1E0A00"/>
          </a:solidFill>
          <a:ln w="12700">
            <a:solidFill>
              <a:srgbClr val="E86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6732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॥ धर्मो रक्षति रक्षितः 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43400" y="376732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"Dharma, when protected, protects in return."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92040" y="44622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587</Words>
  <Application>Microsoft Office PowerPoint</Application>
  <PresentationFormat>On-screen Show (16:9)</PresentationFormat>
  <Paragraphs>146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ItihasaVerse – Indian Knowledge Systems Project</dc:title>
  <dc:subject>PptxGenJS Presentation</dc:subject>
  <dc:creator>PptxGenJS</dc:creator>
  <cp:lastModifiedBy>Nidhi M S</cp:lastModifiedBy>
  <cp:revision>2</cp:revision>
  <dcterms:created xsi:type="dcterms:W3CDTF">2026-04-03T03:49:28Z</dcterms:created>
  <dcterms:modified xsi:type="dcterms:W3CDTF">2026-04-28T17:15:57Z</dcterms:modified>
</cp:coreProperties>
</file>